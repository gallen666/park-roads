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 1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园区 A</c:v>
                  </c:pt>
                  <c:pt idx="1">
                    <c:v>园区 B</c:v>
                  </c:pt>
                  <c:pt idx="2">
                    <c:v>园区 C ★</c:v>
                  </c:pt>
                  <c:pt idx="3">
                    <c:v>园区 D</c:v>
                  </c:pt>
                  <c:pt idx="4">
                    <c:v>园区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45.2</c:v>
                </c:pt>
                <c:pt idx="1">
                  <c:v>50.3</c:v>
                </c:pt>
                <c:pt idx="2">
                  <c:v>40.1</c:v>
                </c:pt>
                <c:pt idx="3">
                  <c:v>48.3</c:v>
                </c:pt>
                <c:pt idx="4">
                  <c:v>46.2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 2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园区 A</c:v>
                  </c:pt>
                  <c:pt idx="1">
                    <c:v>园区 B</c:v>
                  </c:pt>
                  <c:pt idx="2">
                    <c:v>园区 C ★</c:v>
                  </c:pt>
                  <c:pt idx="3">
                    <c:v>园区 D</c:v>
                  </c:pt>
                  <c:pt idx="4">
                    <c:v>园区 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55.1</c:v>
                </c:pt>
                <c:pt idx="1">
                  <c:v>57.3</c:v>
                </c:pt>
                <c:pt idx="2">
                  <c:v>47.7</c:v>
                </c:pt>
                <c:pt idx="3">
                  <c:v>53.3</c:v>
                </c:pt>
                <c:pt idx="4">
                  <c:v>50.1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Year 3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园区 A</c:v>
                  </c:pt>
                  <c:pt idx="1">
                    <c:v>园区 B</c:v>
                  </c:pt>
                  <c:pt idx="2">
                    <c:v>园区 C ★</c:v>
                  </c:pt>
                  <c:pt idx="3">
                    <c:v>园区 D</c:v>
                  </c:pt>
                  <c:pt idx="4">
                    <c:v>园区 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62.1</c:v>
                </c:pt>
                <c:pt idx="1">
                  <c:v>65.4</c:v>
                </c:pt>
                <c:pt idx="2">
                  <c:v>50.3</c:v>
                </c:pt>
                <c:pt idx="3">
                  <c:v>60.9</c:v>
                </c:pt>
                <c:pt idx="4">
                  <c:v>58.3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10972800" cy="10972800"/>
          </a:xfrm>
          <a:prstGeom prst="ellipse">
            <a:avLst/>
          </a:prstGeom>
          <a:solidFill>
            <a:srgbClr val="1E2761">
              <a:alpha val="3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PARK-ROADS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4864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把博士论文里的方法论，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变成你能</a:t>
            </a:r>
            <a:pPr indent="0" marL="0">
              <a:buNone/>
            </a:pPr>
            <a:r>
              <a:rPr lang="en-US" sz="4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拖动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的政策沙盘。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Park-ROADS · The Digital Park Policy Sandbox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Inspired by En-ROADS · Powered by OpenX@X · Validated on 5 real parks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5486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383280" y="6126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AHP INDICATORS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5486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17920" y="6126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PARKS · 3 YEARS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052560" y="5486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0.0283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052560" y="6126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AHP CR (≪ 0.10)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Deck · Series A · Q2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Park-ROADS · Confidential Pitch Deck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6934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· 问题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他们在同一道墙前，反复撞了 10 年。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100,000+ traditional commercial parks in China have been hitting the same wall for a decade.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520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68880"/>
            <a:ext cx="54864" cy="3200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DECLINE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能力下降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招商难、运营弱、议价权流失。园区 ROI 持续下行。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25112" y="2468880"/>
            <a:ext cx="3520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25112" y="2468880"/>
            <a:ext cx="54864" cy="3200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599432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LAGGING INFRASTRUCTURE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9432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基建滞后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99432" y="4434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数据零散、IoT 缺位、合规弱。被新形态业务冲击。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01584" y="2468880"/>
            <a:ext cx="3520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01584" y="2468880"/>
            <a:ext cx="54864" cy="3200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🌫️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8375904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PATH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75904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路径迷失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75904" y="4434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战略摇摆、缺乏长期叙事。咨询报告堆里找不到答案。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</a:rPr>
              <a:t>市场规模 · MARKET SIZE: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100,000+ 园区  ·  ¥10 万亿数字经济  ·  10 年同质化困局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Park-ROADS · Confidential Pitch Deck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6934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 · 洞察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一篇博士论文，把”园区”重新定义了。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Lingnan University DBA, 2025 — Dr. Jitao Dai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657600" cy="4023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51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戴继涛 博士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Jitao Dai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 · Lingnan University · 2025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63040" y="5120640"/>
            <a:ext cx="18288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349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传统商业园区数字化转型升级中的挑战和对策——基于 OpenX@X 平台的实证研究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DTSI = Digital Transformation Success Index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80560" y="2971800"/>
            <a:ext cx="71323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20040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DTSI = </a:t>
            </a:r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0.257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·政府 + </a:t>
            </a:r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0.187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·资产 + </a:t>
            </a:r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0.143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0.120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·企业 + </a:t>
            </a:r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0.110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·科研 + </a:t>
            </a:r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0.093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0.090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·居民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80560" y="54406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 基于 300 位专家 AHP 打分 · 一致性比率 CR = 0.0283 ≪ 0.10 阈值（论文表 6.1–6.7）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58521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🔬 论文证明：园区不是物理空间，而是 7 类利益相关方的共享产品。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Park-ROADS · Confidential Pitch Deck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6934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· 产品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Park-ROADS：让七方在同一张沙盘上谈判。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Park-ROADS · The Policy Sandbox where 7 stakeholders negotiate digital transformation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94560"/>
            <a:ext cx="150876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25.7%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地方政府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indicators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176272" y="219456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76272" y="2194560"/>
            <a:ext cx="150876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76272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176272" y="2926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18.7%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76272" y="3337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资产持有方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76272" y="36118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Holders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76272" y="38404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indicators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03904" y="219456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03904" y="2194560"/>
            <a:ext cx="150876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03904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803904" y="2926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14.3%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803904" y="3337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园区运营方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03904" y="36118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Operators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03904" y="38404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indicators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31536" y="219456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31536" y="2194560"/>
            <a:ext cx="150876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31536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431536" y="2926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12.0%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31536" y="3337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入驻企业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31536" y="36118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31536" y="38404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indicators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59168" y="219456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59168" y="2194560"/>
            <a:ext cx="1508760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59168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7059168" y="2926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11.0%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059168" y="3337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科研院所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59168" y="36118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59168" y="38404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indicators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686800" y="219456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686800" y="2194560"/>
            <a:ext cx="150876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8686800" y="2926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9.3%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686800" y="3337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员工/人才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686800" y="36118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686800" y="38404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indicators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314432" y="219456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314432" y="2194560"/>
            <a:ext cx="1508760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314432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🌳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10314432" y="2926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9.0%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0314432" y="3337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周边居民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314432" y="36118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0314432" y="38404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indicators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48640" y="4434840"/>
            <a:ext cx="110642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🎚️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1234440" y="4572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滑杆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123444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主体 × 5 指标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5603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3063240" y="4572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 DTSI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306324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&lt;200ms 重算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3891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🌊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4892040" y="4572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X-Flow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489204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月仿真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2179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6720840" y="4572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套问卷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72084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论文附录全套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0467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8549640" y="4572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多角色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854964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工作坊原生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98755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10378440" y="4572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分享 URL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037844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协作友好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上线即用 · 单文件部署 · 零外部依赖（除 Chart.js CDN） · 桌面 / 移动端响应式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当前已上线版本：amazing-druid-c30887.netlify.app（含完整 6 页面 + 10 问卷）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Park-ROADS · Confidential Pitch Deck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6934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· 实证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个真实园区，3 年实测数据全部上升。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validation: 5 parks tracked over 3 years — all rising, all measurable.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28600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680960" y="228600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80960" y="2286000"/>
            <a:ext cx="3931920" cy="3657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CASE STUDY · 园区 C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181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OpenX@X 介入下的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1812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阶段跃迁路径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818120" y="3657600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2104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接入前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321040" y="39044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058400" y="3657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40.1%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818120" y="4251960"/>
            <a:ext cx="365760" cy="3657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1812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32104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系统接入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321040" y="4498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058400" y="4251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47.7%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7818120" y="4846320"/>
            <a:ext cx="365760" cy="365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1812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32104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服务重构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321040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8400" y="4846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50.3%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7818120" y="544068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1812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32104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策略演化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321040" y="5687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058400" y="5440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55.3%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548640" y="6355080"/>
            <a:ext cx="1106424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" y="6373368"/>
            <a:ext cx="10972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3 年平均提升 +13.4 pp · 园区 C 案例可复制 · 模型在 5/5 园区均验证有效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Park-ROADS · Confidential Pitch Deck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6934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 · 市场机会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万园区市场，¥10 万亿数字经济。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7315200" cy="4114800"/>
          </a:xfrm>
          <a:prstGeom prst="rect">
            <a:avLst/>
          </a:prstGeom>
          <a:solidFill>
            <a:srgbClr val="1E2761">
              <a:alpha val="20000"/>
            </a:srgbClr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¥10 万亿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336499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中国数字经济总市场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2926080"/>
            <a:ext cx="6217920" cy="3200400"/>
          </a:xfrm>
          <a:prstGeom prst="rect">
            <a:avLst/>
          </a:prstGeom>
          <a:solidFill>
            <a:srgbClr val="38BDF8">
              <a:alpha val="20000"/>
            </a:srgbClr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063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4290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¥1.5 万亿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4005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产业园数字化板块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0" y="3657600"/>
            <a:ext cx="5120640" cy="2286000"/>
          </a:xfrm>
          <a:prstGeom prst="rect">
            <a:avLst/>
          </a:prstGeom>
          <a:solidFill>
            <a:srgbClr val="FBBF24">
              <a:alpha val="20000"/>
            </a:srgbClr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3794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4160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¥75 亿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828800" y="4736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Park-ROADS 5年内可达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园区 × ¥1500万 客单价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· 三大驱动力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77824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政策刚性需求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0" y="30358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《数字中国建设整体布局规划》+ 十四五数字经济规划 + 河南6个1工程已写入政协提案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🏚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77824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存量改造潮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0" y="42702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中国房地产下行 → 商业园闲置率上升 → 数字化转型成为续命刚性必需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0" y="5212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778240" y="5212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落地落地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778240" y="550468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GPT/DeepSeek/Claude 大模型成熟 → 园区运营 / 招商决策 AI Agent 化窗口期到来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6355080"/>
            <a:ext cx="1106424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73368"/>
            <a:ext cx="10972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Top-down: ¥10T → ¥1.5T → ¥75亿  ·  Bottom-up: ¥7.5亿（Y1，50 园区）→ ¥75亿（Y5，500 园区）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Park-ROADS · Confidential Pitch Deck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6934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· 商业模式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大营收引擎 · 自然飞轮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revenue engines, designed to compound: each one feeds the next.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148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214884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5915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331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💎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SUBSCRIPTION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订阅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Park-ROADS 平台订阅，按园区/用户席位/年付费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5166360"/>
            <a:ext cx="19659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193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5394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¥30万–¥150万/园区/年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2286000"/>
            <a:ext cx="2148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834640" y="2286000"/>
            <a:ext cx="214884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235915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2331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🛠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926080" y="2880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CONSULTING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2608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专项咨询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926080" y="361188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OpenX@X 方法落地、4 小时工作坊、DTSI 评估报告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0" y="5166360"/>
            <a:ext cx="19659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5193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017520" y="5394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¥50万–¥500万/项目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20640" y="2286000"/>
            <a:ext cx="2148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20640" y="2286000"/>
            <a:ext cx="2148840" cy="4572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235915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0" y="2331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212080" y="2880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认证培训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12080" y="361188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园区数字化专员认证、AHP 评估师认证、批量企业内训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12080" y="5166360"/>
            <a:ext cx="19659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5193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03520" y="5394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¥3,800–¥18,000/人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06640" y="2286000"/>
            <a:ext cx="2148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06640" y="2286000"/>
            <a:ext cx="21488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235915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869680" y="2331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498080" y="2880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FUND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9808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产业基金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498080" y="361188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管理园区数字化转型基金（GP）、carry + management fee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98080" y="5166360"/>
            <a:ext cx="19659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0" y="5193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589520" y="5394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2/20 标准 GP fee 结构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692640" y="2286000"/>
            <a:ext cx="2148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692640" y="2286000"/>
            <a:ext cx="2148840" cy="4572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84080" y="235915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1155680" y="2331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9784080" y="2880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REVENUE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78408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生态分润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9784080" y="361188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撮合园区采购的 IoT/AI/SaaS 服务，收交易抽佣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784080" y="5166360"/>
            <a:ext cx="19659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0" y="5193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9875520" y="5394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5–10% take rate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飞轮逻辑：①SaaS 锁定客户 → ②咨询深度交付 → ③认证培养生态 → ④基金回流投资 → ⑤Marketplace 抽佣 → ①更多 SaaS 订阅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Park-ROADS · Confidential Pitch Deck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6934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· 渠道与交付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Infosys 模式 · 5 大区域交付中心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Hub-and-spoke delivery network · One HQ + 5 regional Global Delivery Centers (GDCs)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66360" y="32004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3200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HQ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66360" y="3611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郑州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66360" y="3840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Zhengzhou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623560" y="3657600"/>
            <a:ext cx="-3246120" cy="-1188720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623560" y="3657600"/>
            <a:ext cx="3246120" cy="-1188720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623560" y="3657600"/>
            <a:ext cx="0" cy="2468880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623560" y="3657600"/>
            <a:ext cx="3246120" cy="1920240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623560" y="3657600"/>
            <a:ext cx="-3246120" cy="1920240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417320" y="2103120"/>
            <a:ext cx="19202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6304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华北 GDC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24140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 · Beijing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46304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政府+央国企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09560" y="2103120"/>
            <a:ext cx="19202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5528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华东 GDC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0" y="24140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上海 · Shanghai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95528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金融+科创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5760720"/>
            <a:ext cx="19202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中部 GDC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60716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郑州 · HQ-co-located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09160" y="6263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样板基地+培训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909560" y="5212080"/>
            <a:ext cx="19202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55280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华南 GDC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55280" y="55229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深圳 · Shenzhen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955280" y="5715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科技+大湾区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417320" y="5212080"/>
            <a:ext cx="192024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西部 GDC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63040" y="55229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成都 · Chengdu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463040" y="5715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成本中心+西部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1560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3-PHASE ROLL-OUT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6355080"/>
            <a:ext cx="11064240" cy="228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6373368"/>
            <a:ext cx="10972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HQ-GDC-Pod 三层结构 · 一线团队驻地交付 · 后台研发集中 · 70% On-shore + 30% Off-shore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Park-ROADS · Confidential Pitch Deck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6934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ROADMAP · 三阶段产品演进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AI-First · 三视角演进路线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204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86000"/>
            <a:ext cx="3520440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31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· NOW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5786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增强（Augment）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0–18 月 · 当前 v1.1 上线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429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Park-ROADS 沙盘 v1.1 已上线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35 滑杆 + 7 主体 DTSI 实时计算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617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10 套问卷 + AHP 一致性检验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212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🔜 OpenAI/Claude API 接入：自动写诊断报告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806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🔜 智能招商话术生成器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69080" y="4023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4325112" y="2286000"/>
            <a:ext cx="35204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25112" y="2286000"/>
            <a:ext cx="3520440" cy="640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2331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· NEXT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07992" y="25786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自治（Automate）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53712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18–36 月 · v2.0 + Agent 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53712" y="3429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园区 AI Agent：实时招商 + 自动议价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53712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Multi-Agent 工作坊：7 角色 LLM 自主谈判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53712" y="4617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数字孪生 + IoT：真实数据回流自学习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53712" y="5212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推荐引擎：根据政策/市场建议下一步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53712" y="5806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政府/企业/居民端定制 LLM Copilot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45552" y="4023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8101584" y="2286000"/>
            <a:ext cx="35204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01584" y="2286000"/>
            <a:ext cx="3520440" cy="6400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84464" y="2331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· BEYOND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84464" y="25786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重塑（Reinvent）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30184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36+ 月 · 园区操作系统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30184" y="3429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ParkOS：园区级“操作系统”层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30184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跨园区联邦学习 → 行业基准模型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30184" y="4617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自适应政策：模型自主调权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30184" y="5212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全球 Park-ROADS 联盟（沿黄→沿海→出海）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30184" y="5806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标准化 → ISO 园区数字化指数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从博士论文方法论 → 工业级 AI 平台 → 行业操作系统 · 18→36→60 月递进式落地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Park-ROADS · Confidential Pitch Deck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6934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PLAN · 资本路线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A → Pre-IPO → Park-ROADS REITs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1033272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926080"/>
            <a:ext cx="274320" cy="2743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7614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自筹+种子 ¥2,000万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3657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¥1.2亿 (Pre)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-4572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 上线 + 5 园区 PoC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2926080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2788920"/>
            <a:ext cx="548640" cy="548640"/>
          </a:xfrm>
          <a:prstGeom prst="ellipse">
            <a:avLst/>
          </a:prstGeom>
          <a:solidFill>
            <a:srgbClr val="38BDF8">
              <a:alpha val="30000"/>
            </a:srgbClr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27614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¥8,000万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3657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¥4亿 (Pre)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5740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园区签约 · ¥7.5亿 ARR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2926080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27614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0624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¥3亿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06240" y="3657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¥18亿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6052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园区 · 出海试点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32320" y="2926080"/>
            <a:ext cx="274320" cy="27432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27614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 Q2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0936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¥8亿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3657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¥60亿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园区 · ParkOS 标准化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235440" y="292608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Pre-IPO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686800" y="27614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2030+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1248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战略+市场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12480" y="3657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¥150亿+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6676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港股 / A 股 / Park-ROADS REITs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4937760"/>
            <a:ext cx="1106424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· ¥8,000 万元用途规划（18 月）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1520" y="5486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31520" y="5989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产品研发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6217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· LLM Agent · ParkOS 内核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926080" y="5486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2926080" y="5989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&amp; 销售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926080" y="6217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大 GDC 团队组建 · 50 园区销售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20640" y="5486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5120640" y="5989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客户成功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20640" y="6217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工作坊 · 培训 · 标杆园区运营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0" y="5486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7315200" y="5989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市场品牌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15200" y="6217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政协对接 · 学术合作 · 国际会议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509760" y="5486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9509760" y="5989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运营储备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509760" y="6217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法务 · 合规 · 不可预见费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Park-ROADS · Confidential Pitch Deck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6934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团队与顾问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学术 + 工业 + 资本三栈交叉。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6060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86000"/>
            <a:ext cx="26060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· CEO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25880" y="2788920"/>
            <a:ext cx="1051560" cy="105156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9260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戴继涛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297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Jitao Dai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岭南大学 DBA 2025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OpenX@X 平台发明人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太能控股创始人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河南省政协委员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10712" y="2286000"/>
            <a:ext cx="26060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10712" y="2286000"/>
            <a:ext cx="2606040" cy="365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ADVISOR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87952" y="2788920"/>
            <a:ext cx="1051560" cy="105156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87952" y="29260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547872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尚蔚鑫 教授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47872" y="4297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Weixin Shang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93592" y="4663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岭南大学 DBA 导师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数字经济治理学者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72784" y="2286000"/>
            <a:ext cx="26060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72784" y="2286000"/>
            <a:ext cx="2606040" cy="365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ADVISOR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50024" y="2788920"/>
            <a:ext cx="1051560" cy="105156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0024" y="29260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409944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李红军 教授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9944" y="4297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Hongjun Li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55664" y="4663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岭南大学 DBA 导师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论文方法论指导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34856" y="2286000"/>
            <a:ext cx="26060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34856" y="2286000"/>
            <a:ext cx="2606040" cy="365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72016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ADVISOR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912096" y="2788920"/>
            <a:ext cx="1051560" cy="1051560"/>
          </a:xfrm>
          <a:prstGeom prst="ellipse">
            <a:avLst/>
          </a:prstGeom>
          <a:solidFill>
            <a:srgbClr val="F1F5F9"/>
          </a:solidFill>
          <a:ln w="25400">
            <a:solidFill>
              <a:srgbClr val="F472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12096" y="29260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9272016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待邀请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72016" y="4297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17736" y="4663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产业园龙头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华为 / 商汤 / 优刻得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生态合作伙伴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创始人简介待补充：清华 EMBA 校友会 · 全国青联委员 · 河南省青联副秘书长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693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Park-ROADS · Confidential Pitch Deck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6934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-2743200"/>
            <a:ext cx="8229600" cy="8229600"/>
          </a:xfrm>
          <a:prstGeom prst="ellipse">
            <a:avLst/>
          </a:prstGeom>
          <a:solidFill>
            <a:srgbClr val="FBBF24">
              <a:alpha val="1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868680"/>
            <a:ext cx="54864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¥80,000,000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· 8,000 万元 · 换 20% 股权 · 投后估值 ¥4 亿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2606040" cy="2011680"/>
          </a:xfrm>
          <a:prstGeom prst="rect">
            <a:avLst/>
          </a:prstGeom>
          <a:solidFill>
            <a:srgbClr val="0F1729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个月 runway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 v2.0 + 5 大 GDC 上线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10712" y="3657600"/>
            <a:ext cx="2606040" cy="2011680"/>
          </a:xfrm>
          <a:prstGeom prst="rect">
            <a:avLst/>
          </a:prstGeom>
          <a:solidFill>
            <a:srgbClr val="0F1729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3592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🏢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593592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园区签约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93592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 5 大区域 · 标杆建设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2784" y="3657600"/>
            <a:ext cx="2606040" cy="2011680"/>
          </a:xfrm>
          <a:prstGeom prst="rect">
            <a:avLst/>
          </a:prstGeom>
          <a:solidFill>
            <a:srgbClr val="0F1729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55664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¥7.5 亿 ARR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55664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 末预计稳态收入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34856" y="3657600"/>
            <a:ext cx="2606040" cy="2011680"/>
          </a:xfrm>
          <a:prstGeom prst="rect">
            <a:avLst/>
          </a:prstGeom>
          <a:solidFill>
            <a:srgbClr val="0F1729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17736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317736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B Ready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17736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¥18 亿估值 + 200 园区漏斗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Drag the levers. </a:t>
            </a:r>
            <a:pPr indent="0" marL="0">
              <a:buNone/>
            </a:pPr>
            <a:r>
              <a:rPr lang="en-US" sz="2200" b="1" i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the park. </a:t>
            </a:r>
            <a:pPr indent="0" marL="0">
              <a:buNone/>
            </a:pPr>
            <a:r>
              <a:rPr lang="en-US" sz="2200" b="1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the economy.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拖动滑杆，转动园区，改变经济。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Park-ROADS · Investor Pitch Deck</dc:title>
  <dc:subject>PptxGenJS Presentation</dc:subject>
  <dc:creator>Park-ROADS</dc:creator>
  <cp:lastModifiedBy>Park-ROADS</cp:lastModifiedBy>
  <cp:revision>1</cp:revision>
  <dcterms:created xsi:type="dcterms:W3CDTF">2026-04-27T00:37:25Z</dcterms:created>
  <dcterms:modified xsi:type="dcterms:W3CDTF">2026-04-27T00:37:25Z</dcterms:modified>
</cp:coreProperties>
</file>